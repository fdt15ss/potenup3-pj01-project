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b8kKzHbIfRqw7K+WnkVZqiQEz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571500" y="285750"/>
            <a:ext cx="857250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사회적 배경: 왜 지금 디지털 샤머니즘인가?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571500" y="857250"/>
            <a:ext cx="3857625" cy="85725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571500" y="857250"/>
            <a:ext cx="28575" cy="8572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685800" y="971550"/>
            <a:ext cx="36290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01. 초불확실성 시대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85800" y="1235869"/>
            <a:ext cx="3629025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저성장, 고물가, 고용 불안 등 예측 불가능한 사회 구조 속에서 청년들은 외부의 절대적 확신을 갈구하게 됨.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571500" y="1885950"/>
            <a:ext cx="3857625" cy="85725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571500" y="1885950"/>
            <a:ext cx="28575" cy="8572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85800" y="2000250"/>
            <a:ext cx="36290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02. 디지털 네이티브의 진화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85800" y="2264569"/>
            <a:ext cx="3629025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전통적 무속의 비대면화(앱, 유튜브)는 디지털 세대에게 거부감 없는 접근성과 익명성을 제공함.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71500" y="2914650"/>
            <a:ext cx="3857625" cy="85725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1500" y="2914650"/>
            <a:ext cx="28575" cy="8572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85800" y="3028950"/>
            <a:ext cx="36290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03. 심리적 방어기제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85800" y="3293269"/>
            <a:ext cx="3629025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통제할 수 없는 현실에 대해 '운명'이라는 프레임을 씌움으로써 심리적 안정감과 통제감을 획득하려는 시도.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4722019" y="1150144"/>
            <a:ext cx="3843338" cy="212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4714875" y="3429000"/>
            <a:ext cx="3857625" cy="571500"/>
          </a:xfrm>
          <a:prstGeom prst="rect">
            <a:avLst/>
          </a:prstGeom>
          <a:solidFill>
            <a:srgbClr val="9D4EDD">
              <a:alpha val="9803"/>
            </a:srgbClr>
          </a:solidFill>
          <a:ln cap="flat" cmpd="sng" w="9525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829175" y="3550444"/>
            <a:ext cx="36290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디지털 샤머니즘은 단순한 미신이 아닌, 시대적 결핍을 메우는 고도의 심리적 서비스로 진화함.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/>
          <p:nvPr/>
        </p:nvSpPr>
        <p:spPr>
          <a:xfrm>
            <a:off x="571500" y="285750"/>
            <a:ext cx="857250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AI 데이터 분석 파이프라인: 수집에서 통찰까지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71500" y="714375"/>
            <a:ext cx="8001000" cy="1785938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00B4D8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5887" y="857250"/>
            <a:ext cx="5132198" cy="15001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"/>
          <p:cNvSpPr/>
          <p:nvPr/>
        </p:nvSpPr>
        <p:spPr>
          <a:xfrm>
            <a:off x="571500" y="2714625"/>
            <a:ext cx="1893094" cy="1428750"/>
          </a:xfrm>
          <a:prstGeom prst="rect">
            <a:avLst/>
          </a:prstGeom>
          <a:solidFill>
            <a:srgbClr val="9D4EDD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571500" y="2714625"/>
            <a:ext cx="1893094" cy="21431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85800" y="2828925"/>
            <a:ext cx="1664494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01. 수집 (Collection)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85800" y="3089672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71525" y="3100388"/>
            <a:ext cx="93214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KOSIS 청년 삶 실태조사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85800" y="3266815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71525" y="3277530"/>
            <a:ext cx="98812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뉴스 빅카인즈 메타데이터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85800" y="3443957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71525" y="3454673"/>
            <a:ext cx="103810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유튜브 댓글 및 SNS 데이터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85800" y="3621100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71525" y="3631816"/>
            <a:ext cx="90298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API 기반 실시간 검색량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607469" y="2714625"/>
            <a:ext cx="1893094" cy="1428750"/>
          </a:xfrm>
          <a:prstGeom prst="rect">
            <a:avLst/>
          </a:prstGeom>
          <a:solidFill>
            <a:srgbClr val="9D4EDD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2607469" y="2714625"/>
            <a:ext cx="1893094" cy="21431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721769" y="2828925"/>
            <a:ext cx="1664494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02. 전처리 (Processing)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721769" y="3089672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807494" y="3100388"/>
            <a:ext cx="81196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KoNLPy 형태소 분석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721769" y="3266815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807494" y="3277530"/>
            <a:ext cx="103643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불용어 제거 및 텍스트 정제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721769" y="3443957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807494" y="3454673"/>
            <a:ext cx="81726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시계열 데이터 정규화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721769" y="3621100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807494" y="3631816"/>
            <a:ext cx="87298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데이터 레이블링 (감성)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643438" y="2714625"/>
            <a:ext cx="1893094" cy="1428750"/>
          </a:xfrm>
          <a:prstGeom prst="rect">
            <a:avLst/>
          </a:prstGeom>
          <a:solidFill>
            <a:srgbClr val="9D4EDD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643438" y="2714625"/>
            <a:ext cx="1893094" cy="21431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757738" y="2828925"/>
            <a:ext cx="1664494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03. 분석 (Analysis)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757738" y="3089672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43463" y="3100388"/>
            <a:ext cx="81726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피어슨 상관계수 산출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757738" y="3266815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843463" y="3277530"/>
            <a:ext cx="64943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LDA 토픽 모델링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757738" y="3443957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843463" y="3454673"/>
            <a:ext cx="84140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감성 사전 기반 점수화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757738" y="3621100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43463" y="3631816"/>
            <a:ext cx="92684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주장 패턴 분류 알고리즘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679406" y="2714625"/>
            <a:ext cx="1893094" cy="1428750"/>
          </a:xfrm>
          <a:prstGeom prst="rect">
            <a:avLst/>
          </a:prstGeom>
          <a:solidFill>
            <a:srgbClr val="9D4EDD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679406" y="2714625"/>
            <a:ext cx="1893094" cy="21431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793706" y="2828925"/>
            <a:ext cx="1664494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04. 시각화 (Insight)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793706" y="3089672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879431" y="3100388"/>
            <a:ext cx="92684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시계열 혼합 트렌드 차트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793706" y="3266815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879431" y="3277530"/>
            <a:ext cx="98812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감정 키워드 워드클라우드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793706" y="3443957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879431" y="3454673"/>
            <a:ext cx="81726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효과의 층위 피라미드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793706" y="3621100"/>
            <a:ext cx="3490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879431" y="3631816"/>
            <a:ext cx="84140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데이터 기반 정책 제언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0" y="4572000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325" spcFirstLastPara="1" rIns="0" wrap="square" tIns="0">
            <a:sp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Technical Stack: Python (Pandas, Matplotlib, KoNLPy), Chart.js, Mermaid Diagram Engine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1496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571500" y="401836"/>
            <a:ext cx="2797392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DATA CONNECTION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308810" y="578644"/>
            <a:ext cx="126369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PHASE 01 / ANALYSIS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71500" y="1000125"/>
            <a:ext cx="4629150" cy="271462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4105870" y="1071563"/>
            <a:ext cx="937617" cy="91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105870" y="1071563"/>
            <a:ext cx="937617" cy="91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1171575"/>
            <a:ext cx="4271963" cy="235743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/>
          <p:nvPr/>
        </p:nvSpPr>
        <p:spPr>
          <a:xfrm>
            <a:off x="571500" y="3886200"/>
            <a:ext cx="2257425" cy="8143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9D4ED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714375" y="4029075"/>
            <a:ext cx="19716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Correlation Coeff.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714375" y="4193381"/>
            <a:ext cx="1971675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2943225" y="3886200"/>
            <a:ext cx="2257425" cy="8143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9D4ED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3086100" y="4029075"/>
            <a:ext cx="19716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Anxiety Keyword Freq.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3086100" y="4193381"/>
            <a:ext cx="1971675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5486400" y="1000125"/>
            <a:ext cx="3086100" cy="7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경제적 불확실성이 심화될수록 청년층은 디지털 샤머니즘을 통해 심리적 위안을 찾는다.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5486400" y="1948765"/>
            <a:ext cx="228600" cy="228600"/>
          </a:xfrm>
          <a:prstGeom prst="rect">
            <a:avLst/>
          </a:prstGeom>
          <a:solidFill>
            <a:srgbClr val="00B4D8">
              <a:alpha val="9803"/>
            </a:srgbClr>
          </a:solidFill>
          <a:ln cap="flat" cmpd="sng" w="9525">
            <a:solidFill>
              <a:srgbClr val="00B4D8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5486400" y="194876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5829300" y="1948765"/>
            <a:ext cx="2743200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시계열 상관분석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5829300" y="2122001"/>
            <a:ext cx="274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2023-2025 뉴스 메타데이터와 네이버 데이터랩 검색량을 결합하여 피어슨 상관계수를 산출함.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5486400" y="2493476"/>
            <a:ext cx="228600" cy="228600"/>
          </a:xfrm>
          <a:prstGeom prst="rect">
            <a:avLst/>
          </a:prstGeom>
          <a:solidFill>
            <a:srgbClr val="00B4D8">
              <a:alpha val="9803"/>
            </a:srgbClr>
          </a:solidFill>
          <a:ln cap="flat" cmpd="sng" w="9525">
            <a:solidFill>
              <a:srgbClr val="00B4D8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5486400" y="249347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5829300" y="2493476"/>
            <a:ext cx="2743200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NLP 감성 분석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5829300" y="2666712"/>
            <a:ext cx="274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유튜브 댓글 1만 건을 대상으로 KoNLPy 형태소 분석을 실시하여 핵심 감정 키워드를 추출함.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5486400" y="4389165"/>
            <a:ext cx="3086100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AI 데이터 분석 결과, 경제/취업/주거 불안 기사량이 증가하는 시기에 운세 및 타로 검색량이 동반 상승하는 강력한 양의 상관관계가 확인되었습니다.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571500" y="5027414"/>
            <a:ext cx="2715630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516"/>
              <a:buFont typeface="Calibri"/>
              <a:buNone/>
            </a:pPr>
            <a:r>
              <a:rPr b="0" i="1" lang="en-US" sz="516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Source: 국무조정실 「2024 청년 삶 실태조사」, 뉴스 빅카인즈 2023-2025 메타데이터 분석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222889" y="5030093"/>
            <a:ext cx="1349611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© 2026 DIGITAL SHAMANISM RESEARCH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571500" y="428625"/>
            <a:ext cx="8572500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케이스 스터디: 영적 콘텐츠의 약속과 포장술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71500" y="1007269"/>
            <a:ext cx="4208311" cy="2143125"/>
          </a:xfrm>
          <a:prstGeom prst="rect">
            <a:avLst/>
          </a:prstGeom>
          <a:solidFill>
            <a:srgbClr val="000000">
              <a:alpha val="29803"/>
            </a:srgbClr>
          </a:solidFill>
          <a:ln cap="flat" cmpd="sng" w="9525">
            <a:solidFill>
              <a:srgbClr val="9D4EDD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391" y="1078706"/>
            <a:ext cx="40005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571500" y="3293269"/>
            <a:ext cx="4208311" cy="128587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" y="3400425"/>
            <a:ext cx="1071563" cy="107156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1871663" y="3696193"/>
            <a:ext cx="2822423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주장 유형 분류:</a:t>
            </a:r>
            <a:br>
              <a:rPr b="0" i="0" lang="en-US" sz="727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27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 심리적 위안(40%)과 의사결정 보조(25%)가 주를 이루며, 유사 과학적 주장(20%)을 통해 신뢰성을 확보하려는 패턴이 뚜렷함.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65561" y="1007269"/>
            <a:ext cx="3506939" cy="907256"/>
          </a:xfrm>
          <a:prstGeom prst="rect">
            <a:avLst/>
          </a:prstGeom>
          <a:solidFill>
            <a:srgbClr val="9D4EDD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065561" y="1007269"/>
            <a:ext cx="28575" cy="907256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208436" y="1150144"/>
            <a:ext cx="3221189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토픽 모델링 결과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208436" y="1428750"/>
            <a:ext cx="32211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"양자역학", "뇌파 동조", "우주 에너지" 등 과학적 용어를 차용하여 검증 불가능한 효능을 포장하는 경향성 확인.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065561" y="2057400"/>
            <a:ext cx="3506939" cy="1280517"/>
          </a:xfrm>
          <a:prstGeom prst="rect">
            <a:avLst/>
          </a:prstGeom>
          <a:solidFill>
            <a:srgbClr val="9D4EDD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5065561" y="2057400"/>
            <a:ext cx="28575" cy="1280517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208436" y="2200275"/>
            <a:ext cx="3221189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댓글 감정 분석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208436" y="2478881"/>
            <a:ext cx="32211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콘텐츠 소비자의 주된 감정 상태는 '불안'과 '의존'으로 나타나며, 일시적인 '확신'을 얻기 위해 반복 시청함.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208436" y="2964656"/>
            <a:ext cx="593294" cy="230386"/>
          </a:xfrm>
          <a:prstGeom prst="roundRect">
            <a:avLst>
              <a:gd fmla="val 16667" name="adj"/>
            </a:avLst>
          </a:prstGeom>
          <a:solidFill>
            <a:srgbClr val="00B4D8">
              <a:alpha val="980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208436" y="2964656"/>
            <a:ext cx="593294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102100" spcFirstLastPara="1" rIns="102100" wrap="square" tIns="4252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불안 35%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858880" y="2964656"/>
            <a:ext cx="593294" cy="230386"/>
          </a:xfrm>
          <a:prstGeom prst="roundRect">
            <a:avLst>
              <a:gd fmla="val 16667" name="adj"/>
            </a:avLst>
          </a:prstGeom>
          <a:solidFill>
            <a:srgbClr val="00B4D8">
              <a:alpha val="980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858880" y="2964656"/>
            <a:ext cx="593294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102100" spcFirstLastPara="1" rIns="102100" wrap="square" tIns="4252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의존 30%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509324" y="2964656"/>
            <a:ext cx="593294" cy="230386"/>
          </a:xfrm>
          <a:prstGeom prst="roundRect">
            <a:avLst>
              <a:gd fmla="val 16667" name="adj"/>
            </a:avLst>
          </a:prstGeom>
          <a:solidFill>
            <a:srgbClr val="00B4D8">
              <a:alpha val="980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509324" y="2964656"/>
            <a:ext cx="593294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102100" spcFirstLastPara="1" rIns="102100" wrap="square" tIns="4252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안정 20%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159768" y="2964656"/>
            <a:ext cx="593294" cy="230386"/>
          </a:xfrm>
          <a:prstGeom prst="roundRect">
            <a:avLst>
              <a:gd fmla="val 16667" name="adj"/>
            </a:avLst>
          </a:prstGeom>
          <a:solidFill>
            <a:srgbClr val="00B4D8">
              <a:alpha val="980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159768" y="2964656"/>
            <a:ext cx="593294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102100" spcFirstLastPara="1" rIns="102100" wrap="square" tIns="4252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확신 15%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065561" y="3466505"/>
            <a:ext cx="35069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디지털 샤머니즘 콘텐츠는 청년들의 불안을 동력으로 삼아, 과학의 언어로 포장된 영적 약속을 제공하며 강력한 팬덤과 의존성을 형성합니다.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0" y="4659511"/>
            <a:ext cx="9144000" cy="483989"/>
          </a:xfrm>
          <a:prstGeom prst="rect">
            <a:avLst/>
          </a:prstGeom>
          <a:noFill/>
          <a:ln>
            <a:noFill/>
          </a:ln>
        </p:spPr>
        <p:txBody>
          <a:bodyPr anchorCtr="0" anchor="t" bIns="340225" lIns="680325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Reference: 유튜브 영적 콘텐츠(주파수/확언) 텍스트 마이닝 및 댓글 감정 분석 데이터 (2024-2025)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571500" y="428625"/>
            <a:ext cx="8572500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결론: 효과의 실체 - 객관적 층위로 분해하기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750219" y="1667173"/>
            <a:ext cx="1428750" cy="714375"/>
          </a:xfrm>
          <a:prstGeom prst="rect">
            <a:avLst/>
          </a:prstGeom>
          <a:solidFill>
            <a:srgbClr val="00B4D8">
              <a:alpha val="80000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1750219" y="1667173"/>
            <a:ext cx="1428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425175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D"/>
                </a:solidFill>
                <a:latin typeface="Calibri"/>
                <a:ea typeface="Calibri"/>
                <a:cs typeface="Calibri"/>
                <a:sym typeface="Calibri"/>
              </a:rPr>
              <a:t>현실 해결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214438" y="2452985"/>
            <a:ext cx="2500313" cy="571500"/>
          </a:xfrm>
          <a:prstGeom prst="rect">
            <a:avLst/>
          </a:prstGeom>
          <a:solidFill>
            <a:srgbClr val="9D4EDD">
              <a:alpha val="60000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214438" y="2452985"/>
            <a:ext cx="250031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의사결정 보조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78656" y="3095923"/>
            <a:ext cx="3571875" cy="571500"/>
          </a:xfrm>
          <a:prstGeom prst="rect">
            <a:avLst/>
          </a:prstGeom>
          <a:solidFill>
            <a:srgbClr val="9D4EDD">
              <a:alpha val="29803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78656" y="3095923"/>
            <a:ext cx="3571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심리적 위안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856370" y="3881735"/>
            <a:ext cx="1216447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[효과의 층위 피라미드]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786313" y="1402854"/>
            <a:ext cx="261528" cy="56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190716" y="1402854"/>
            <a:ext cx="338178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심리적 위안 효과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190716" y="1645741"/>
            <a:ext cx="3381784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불안 감소 및 기분 안정. 가장 높은 체감도를 보이며 디지털 샤머니즘 소비의 주된 동력임.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786313" y="2145804"/>
            <a:ext cx="261528" cy="56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190716" y="2145804"/>
            <a:ext cx="338178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의사결정 보조 효과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190716" y="2388691"/>
            <a:ext cx="3381784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선택의 기로에서 발생하는 스트레스를 외부 요인(운세 등)에 의존하여 일시적으로 해소함.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786313" y="2888754"/>
            <a:ext cx="261528" cy="56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190716" y="2888754"/>
            <a:ext cx="338178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현실 문제 해결 효과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190716" y="3131641"/>
            <a:ext cx="3381784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취업/관계 등 실질적 결과 개선. 가장 엄격한 검증이 필요하며, 현재로서는 실질적 근거가 부족함.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786313" y="3846016"/>
            <a:ext cx="3786188" cy="48934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929188" y="3996035"/>
            <a:ext cx="350043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디지털 샤머니즘은 '치료제'가 아닌 '진통제' 역할에 국한됩니다.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0" y="4588073"/>
            <a:ext cx="9144000" cy="555427"/>
          </a:xfrm>
          <a:prstGeom prst="rect">
            <a:avLst/>
          </a:prstGeom>
          <a:noFill/>
          <a:ln>
            <a:noFill/>
          </a:ln>
        </p:spPr>
        <p:txBody>
          <a:bodyPr anchorCtr="0" anchor="t" bIns="340225" lIns="680325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Reference: 엠브레인 트렌드모니터 「2025 운세 서비스 이용 실태 조사」, 심리적 위안 효과 연구 레퍼런스 통합 분석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2026-02-02T08:43:14Z</dcterms:created>
  <dc:creator>PptxGenJS</dc:creator>
</cp:coreProperties>
</file>